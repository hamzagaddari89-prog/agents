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170432"/>
            <a:ext cx="566928" cy="685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6035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500">
                <a:solidFill>
                  <a:srgbClr val="E6EDF3"/>
                </a:solidFill>
                <a:latin typeface="Segoe UI"/>
              </a:rP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87168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58A6FF"/>
                </a:solidFill>
                <a:latin typeface="Segoe UI"/>
              </a:rPr>
              <a:t>Shared Agent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4553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9EAB"/>
                </a:solidFill>
                <a:latin typeface="Consolas"/>
              </a:rPr>
              <a:t>Rules</a:t>
            </a:r>
            <a:r>
              <a:rPr sz="1400" b="1" i="0">
                <a:solidFill>
                  <a:srgbClr val="58A6FF"/>
                </a:solidFill>
                <a:latin typeface="Segoe UI"/>
              </a:rPr>
              <a:t>   •   </a:t>
            </a:r>
            <a:r>
              <a:rPr sz="1400" b="0" i="0">
                <a:solidFill>
                  <a:srgbClr val="949EAB"/>
                </a:solidFill>
                <a:latin typeface="Consolas"/>
              </a:rPr>
              <a:t>Skills</a:t>
            </a:r>
            <a:r>
              <a:rPr sz="1400" b="1" i="0">
                <a:solidFill>
                  <a:srgbClr val="58A6FF"/>
                </a:solidFill>
                <a:latin typeface="Segoe UI"/>
              </a:rPr>
              <a:t>   •   </a:t>
            </a:r>
            <a:r>
              <a:rPr sz="1400" b="0" i="0">
                <a:solidFill>
                  <a:srgbClr val="949EAB"/>
                </a:solidFill>
                <a:latin typeface="Consolas"/>
              </a:rPr>
              <a:t>Agents</a:t>
            </a:r>
            <a:r>
              <a:rPr sz="1400" b="1" i="0">
                <a:solidFill>
                  <a:srgbClr val="58A6FF"/>
                </a:solidFill>
                <a:latin typeface="Segoe UI"/>
              </a:rPr>
              <a:t>   •   </a:t>
            </a:r>
            <a:r>
              <a:rPr sz="1400" b="0" i="0">
                <a:solidFill>
                  <a:srgbClr val="949EAB"/>
                </a:solidFill>
                <a:latin typeface="Consolas"/>
              </a:rPr>
              <a:t>Sync</a:t>
            </a:r>
            <a:r>
              <a:rPr sz="1400" b="1" i="0">
                <a:solidFill>
                  <a:srgbClr val="58A6FF"/>
                </a:solidFill>
                <a:latin typeface="Segoe UI"/>
              </a:rPr>
              <a:t>   •   </a:t>
            </a:r>
            <a:r>
              <a:rPr sz="1400" b="0" i="0">
                <a:solidFill>
                  <a:srgbClr val="949EAB"/>
                </a:solidFill>
                <a:latin typeface="Consolas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39312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49EAB"/>
                </a:solidFill>
                <a:latin typeface="Segoe UI"/>
              </a:rPr>
              <a:t>One git-versioned source of truth for coding-agent rules, skills and agent roles — consumed by every agent on the machine.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5742432"/>
            <a:ext cx="56509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585216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6E7B"/>
                </a:solidFill>
                <a:latin typeface="Consolas"/>
              </a:rPr>
              <a:t>Local  •  Simple  •  Portable  •  Auditable  •  Safe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170432"/>
            <a:ext cx="4645152" cy="45720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REPOSITORY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00784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6EDF3"/>
                </a:solidFill>
                <a:latin typeface="Consolas"/>
              </a:rPr>
              <a:t>~/.agents/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skills/        &lt;name&gt;/SKILL.md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rules/         *.md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agents/        canonical roles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mcp/           definitions (docs only)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.promote.md    friction log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sync-rules.ps1     idempotent generator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sync-adapters.ps1  idempotent generator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sync-agents.ps1    idempotent generator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verify.ps1         layer health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doctor.ps1         diagnostics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49EAB"/>
                </a:solidFill>
                <a:latin typeface="Consolas"/>
              </a:rPr>
              <a:t>  tests/            unit +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Many agents, drifting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539496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350" b="1" i="0">
                <a:solidFill>
                  <a:srgbClr val="E6EDF3"/>
                </a:solidFill>
                <a:latin typeface="Segoe UI"/>
              </a:rPr>
              <a:t>Diverging instructions — </a:t>
            </a:r>
            <a:r>
              <a:rPr sz="1350" b="0" i="0">
                <a:solidFill>
                  <a:srgbClr val="949EAB"/>
                </a:solidFill>
                <a:latin typeface="Segoe UI"/>
              </a:rPr>
              <a:t>every tool reads a different rule set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350" b="1" i="0">
                <a:solidFill>
                  <a:srgbClr val="E6EDF3"/>
                </a:solidFill>
                <a:latin typeface="Segoe UI"/>
              </a:rPr>
              <a:t>Duplicated rules — </a:t>
            </a:r>
            <a:r>
              <a:rPr sz="1350" b="0" i="0">
                <a:solidFill>
                  <a:srgbClr val="949EAB"/>
                </a:solidFill>
                <a:latin typeface="Segoe UI"/>
              </a:rPr>
              <a:t>the same conventions copied into each tool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350" b="1" i="0">
                <a:solidFill>
                  <a:srgbClr val="E6EDF3"/>
                </a:solidFill>
                <a:latin typeface="Segoe UI"/>
              </a:rPr>
              <a:t>Drift — </a:t>
            </a:r>
            <a:r>
              <a:rPr sz="1350" b="0" i="0">
                <a:solidFill>
                  <a:srgbClr val="949EAB"/>
                </a:solidFill>
                <a:latin typeface="Segoe UI"/>
              </a:rPr>
              <a:t>copies diverge silently over time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350" b="1" i="0">
                <a:solidFill>
                  <a:srgbClr val="E6EDF3"/>
                </a:solidFill>
                <a:latin typeface="Segoe UI"/>
              </a:rPr>
              <a:t>Lost verification — </a:t>
            </a:r>
            <a:r>
              <a:rPr sz="1350" b="0" i="0">
                <a:solidFill>
                  <a:srgbClr val="949EAB"/>
                </a:solidFill>
                <a:latin typeface="Segoe UI"/>
              </a:rPr>
              <a:t>checks exist in one place, not everywhere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350" b="1" i="0">
                <a:solidFill>
                  <a:srgbClr val="E6EDF3"/>
                </a:solidFill>
                <a:latin typeface="Segoe UI"/>
              </a:rPr>
              <a:t>Fragile workflow — </a:t>
            </a:r>
            <a:r>
              <a:rPr sz="1350" b="0" i="0">
                <a:solidFill>
                  <a:srgbClr val="949EAB"/>
                </a:solidFill>
                <a:latin typeface="Segoe UI"/>
              </a:rPr>
              <a:t>no shared, portable way of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70064" y="1481328"/>
            <a:ext cx="3108960" cy="5029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0064" y="14813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  <a:latin typeface="Segoe UI"/>
              </a:rPr>
              <a:t>Developer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924544" y="1984248"/>
            <a:ext cx="0" cy="256032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370064" y="2240280"/>
            <a:ext cx="3108960" cy="5029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70064" y="22402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E6EDF3"/>
                </a:solidFill>
                <a:latin typeface="Segoe UI"/>
              </a:rPr>
              <a:t>Multiple coding 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9652" y="2944368"/>
            <a:ext cx="969264" cy="347472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2944368"/>
            <a:ext cx="859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6EDF3"/>
                </a:solidFill>
                <a:latin typeface="Segoe UI"/>
              </a:rPr>
              <a:t>Cline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2068" y="2944368"/>
            <a:ext cx="969264" cy="347472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6932" y="2944368"/>
            <a:ext cx="859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6EDF3"/>
                </a:solidFill>
                <a:latin typeface="Segoe UI"/>
              </a:rPr>
              <a:t>OpenCode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44484" y="2944368"/>
            <a:ext cx="969264" cy="347472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99348" y="2944368"/>
            <a:ext cx="859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6EDF3"/>
                </a:solidFill>
                <a:latin typeface="Segoe UI"/>
              </a:rPr>
              <a:t>Claude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86900" y="2944368"/>
            <a:ext cx="969264" cy="347472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1764" y="2944368"/>
            <a:ext cx="859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6EDF3"/>
                </a:solidFill>
                <a:latin typeface="Segoe UI"/>
              </a:rPr>
              <a:t>Codex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29316" y="2944368"/>
            <a:ext cx="969264" cy="347472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84180" y="2944368"/>
            <a:ext cx="859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6EDF3"/>
                </a:solidFill>
                <a:latin typeface="Segoe UI"/>
              </a:rPr>
              <a:t>Qwen Code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24544" y="3291840"/>
            <a:ext cx="0" cy="256032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09360" y="3547872"/>
            <a:ext cx="5239512" cy="713232"/>
          </a:xfrm>
          <a:prstGeom prst="rect">
            <a:avLst/>
          </a:prstGeom>
          <a:solidFill>
            <a:srgbClr val="151B23"/>
          </a:solidFill>
          <a:ln w="1397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547872"/>
            <a:ext cx="487375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85149"/>
                </a:solidFill>
                <a:latin typeface="Segoe UI"/>
              </a:rPr>
              <a:t>Different instructions  •  drift  •  inconsistent behavior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09160"/>
            <a:ext cx="10908792" cy="1371600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09160"/>
            <a:ext cx="64008" cy="13716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0916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6EDF3"/>
                </a:solidFill>
                <a:latin typeface="Segoe UI"/>
              </a:rPr>
              <a:t>AGENTS provides a shared foundation.</a:t>
            </a:r>
          </a:p>
          <a:p>
            <a:pPr algn="l"/>
            <a:r>
              <a:rPr sz="1250" b="0" i="0">
                <a:solidFill>
                  <a:srgbClr val="949EAB"/>
                </a:solidFill>
                <a:latin typeface="Segoe UI"/>
              </a:rPr>
              <a:t>One layer holds the rules, skills, agent roles and sync machinery — every agent consumes the same source.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Six layers, one shared foundation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17904"/>
            <a:ext cx="4114800" cy="402336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190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THE LAYER, AS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48256"/>
            <a:ext cx="3657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58A6FF"/>
                </a:solidFill>
                <a:latin typeface="Consolas"/>
              </a:rPr>
              <a:t>AGENTS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949EAB"/>
                </a:solidFill>
                <a:latin typeface="Consolas"/>
              </a:rPr>
              <a:t>  │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</a:rPr>
              <a:t>  ├── Rules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</a:rPr>
              <a:t>  ├── Skills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</a:rPr>
              <a:t>  ├── Agents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</a:rPr>
              <a:t>  ├── Adapters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</a:rPr>
              <a:t>  ├── Sync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</a:rPr>
              <a:t>  └──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517904"/>
            <a:ext cx="3136392" cy="11887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1517904"/>
            <a:ext cx="50292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30368" y="1645919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Segoe UI"/>
              </a:rPr>
              <a:t>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1993391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machine-level conventions — agent-agnostic markdown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48471" y="1517904"/>
            <a:ext cx="3136392" cy="11887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48471" y="1517904"/>
            <a:ext cx="50292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645919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Segoe UI"/>
              </a:rP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993391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reusable workflows — one SKILL.md per folder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862072"/>
            <a:ext cx="3136392" cy="11887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2862072"/>
            <a:ext cx="50292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99008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Segoe UI"/>
              </a:rPr>
              <a:t>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333756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canonical sub-agent role definitions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1" y="2862072"/>
            <a:ext cx="3136392" cy="11887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48471" y="2862072"/>
            <a:ext cx="50292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99008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Segoe UI"/>
              </a:rPr>
              <a:t>Adapters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33756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junctions, generated blocks, pointer 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206240"/>
            <a:ext cx="3136392" cy="11887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4206240"/>
            <a:ext cx="50292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4334255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Segoe UI"/>
              </a:rPr>
              <a:t>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4681727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idempotent generators: rules / adapters / agents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48471" y="4206240"/>
            <a:ext cx="3136392" cy="11887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48471" y="4206240"/>
            <a:ext cx="50292" cy="1188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334255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Segoe UI"/>
              </a:rPr>
              <a:t>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681727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tests, doctor, drift &amp; idempotency gates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42432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49EAB"/>
                </a:solidFill>
                <a:latin typeface="Segoe UI"/>
              </a:rPr>
              <a:t>Layers compose:  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shared source  →  sync  →  verified deployment  →  coding agents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From shared source to every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163927" y="1444752"/>
            <a:ext cx="7863840" cy="1024128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65095" y="1536192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SHARED SOURCE — ~/.AGENTS  (GIT)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392527" y="1883664"/>
            <a:ext cx="2359152" cy="457200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47391" y="1883664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  <a:latin typeface="Segoe UI"/>
              </a:rPr>
              <a:t>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4559" y="1883664"/>
            <a:ext cx="2359152" cy="457200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9423" y="1883664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  <a:latin typeface="Segoe UI"/>
              </a:rPr>
              <a:t>Skills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76591" y="1883664"/>
            <a:ext cx="2359152" cy="457200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1455" y="1883664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  <a:latin typeface="Segoe UI"/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2359" y="23317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646E7B"/>
                </a:solidFill>
                <a:latin typeface="Consolas"/>
              </a:rPr>
              <a:t>sync-rules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646E7B"/>
                </a:solidFill>
                <a:latin typeface="Consolas"/>
              </a:rPr>
              <a:t>sync-adapters</a:t>
            </a:r>
          </a:p>
          <a:p>
            <a:pPr algn="l"/>
            <a:r>
              <a:rPr sz="950" b="0" i="0">
                <a:solidFill>
                  <a:srgbClr val="646E7B"/>
                </a:solidFill>
                <a:latin typeface="Consolas"/>
              </a:rPr>
              <a:t>sync-agents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304" y="2468880"/>
            <a:ext cx="0" cy="256032"/>
          </a:xfrm>
          <a:prstGeom prst="line">
            <a:avLst/>
          </a:prstGeom>
          <a:ln w="17780">
            <a:solidFill>
              <a:srgbClr val="58A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163927" y="2724912"/>
            <a:ext cx="7863840" cy="658368"/>
          </a:xfrm>
          <a:prstGeom prst="rect">
            <a:avLst/>
          </a:prstGeom>
          <a:solidFill>
            <a:srgbClr val="1A222E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3927" y="2724912"/>
            <a:ext cx="78638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58A6FF"/>
                </a:solidFill>
                <a:latin typeface="Consolas"/>
              </a:rPr>
              <a:t>SYNC / ADAPTERS</a:t>
            </a:r>
          </a:p>
          <a:p>
            <a:pPr algn="ctr"/>
            <a:r>
              <a:rPr sz="1000" b="0" i="0">
                <a:solidFill>
                  <a:srgbClr val="949EAB"/>
                </a:solidFill>
                <a:latin typeface="Segoe UI"/>
              </a:rPr>
              <a:t>junctions  •  generated blocks  •  pointer files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304" y="3383280"/>
            <a:ext cx="0" cy="256032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246680" y="3639312"/>
            <a:ext cx="1444752" cy="475488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01544" y="3639312"/>
            <a:ext cx="13350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  <a:latin typeface="Segoe UI"/>
              </a:rPr>
              <a:t>Cline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0304" y="3639312"/>
            <a:ext cx="1444752" cy="475488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5168" y="3639312"/>
            <a:ext cx="13350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  <a:latin typeface="Segoe UI"/>
              </a:rPr>
              <a:t>OpenCode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3928" y="3639312"/>
            <a:ext cx="1444752" cy="475488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28792" y="3639312"/>
            <a:ext cx="13350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  <a:latin typeface="Segoe UI"/>
              </a:rPr>
              <a:t>Claude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37552" y="3639312"/>
            <a:ext cx="1444752" cy="475488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2416" y="3639312"/>
            <a:ext cx="13350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  <a:latin typeface="Segoe UI"/>
              </a:rPr>
              <a:t>Codex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1176" y="3639312"/>
            <a:ext cx="1444752" cy="475488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6040" y="3639312"/>
            <a:ext cx="13350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6EDF3"/>
                </a:solidFill>
                <a:latin typeface="Segoe UI"/>
              </a:rPr>
              <a:t>Qwen Code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304" y="4114800"/>
            <a:ext cx="0" cy="256032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163927" y="4370832"/>
            <a:ext cx="7863840" cy="658368"/>
          </a:xfrm>
          <a:prstGeom prst="rect">
            <a:avLst/>
          </a:prstGeom>
          <a:solidFill>
            <a:srgbClr val="151B23"/>
          </a:solidFill>
          <a:ln w="1524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63927" y="4370832"/>
            <a:ext cx="78638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FB950"/>
                </a:solidFill>
                <a:latin typeface="Consolas"/>
              </a:rPr>
              <a:t>VERIFICATION</a:t>
            </a:r>
          </a:p>
          <a:p>
            <a:pPr algn="ctr"/>
            <a:r>
              <a:rPr sz="1000" b="0" i="0">
                <a:solidFill>
                  <a:srgbClr val="949EAB"/>
                </a:solidFill>
                <a:latin typeface="Segoe UI"/>
              </a:rPr>
              <a:t>tests  •  doctor  •  drift gates  •  idempotency  •  secret scan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49EAB"/>
                </a:solidFill>
                <a:latin typeface="Segoe UI"/>
              </a:rPr>
              <a:t>One direction only:  </a:t>
            </a:r>
            <a:r>
              <a:rPr sz="1200" b="1" i="0">
                <a:solidFill>
                  <a:srgbClr val="E6EDF3"/>
                </a:solidFill>
                <a:latin typeface="Segoe UI"/>
              </a:rPr>
              <a:t>source → sync → targets → verified.</a:t>
            </a:r>
            <a:r>
              <a:rPr sz="1200" b="0" i="0">
                <a:solidFill>
                  <a:srgbClr val="949EAB"/>
                </a:solidFill>
                <a:latin typeface="Segoe UI"/>
              </a:rPr>
              <a:t>   Targets never edit the source.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LAYER —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One set of rules, injected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E6EDF3"/>
                </a:solidFill>
                <a:latin typeface="Segoe UI"/>
              </a:rPr>
              <a:t>Plain markdown in ~/.agents/rules — </a:t>
            </a:r>
            <a:r>
              <a:rPr sz="1300" b="0" i="0">
                <a:solidFill>
                  <a:srgbClr val="949EAB"/>
                </a:solidFill>
                <a:latin typeface="Segoe UI"/>
              </a:rPr>
              <a:t>nothing to learn, nothing to install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E6EDF3"/>
                </a:solidFill>
                <a:latin typeface="Segoe UI"/>
              </a:rPr>
              <a:t>Agent-agnostic — </a:t>
            </a:r>
            <a:r>
              <a:rPr sz="1300" b="0" i="0">
                <a:solidFill>
                  <a:srgbClr val="949EAB"/>
                </a:solidFill>
                <a:latin typeface="Segoe UI"/>
              </a:rPr>
              <a:t>the same 4 files serve every coding agent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E6EDF3"/>
                </a:solidFill>
                <a:latin typeface="Segoe UI"/>
              </a:rPr>
              <a:t>Injected everywhere — </a:t>
            </a:r>
            <a:r>
              <a:rPr sz="1300" b="0" i="0">
                <a:solidFill>
                  <a:srgbClr val="949EAB"/>
                </a:solidFill>
                <a:latin typeface="Segoe UI"/>
              </a:rPr>
              <a:t>each tool gets a marked generated block in its instruction file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E6EDF3"/>
                </a:solidFill>
                <a:latin typeface="Segoe UI"/>
              </a:rPr>
              <a:t>Idempotent — </a:t>
            </a:r>
            <a:r>
              <a:rPr sz="1300" b="0" i="0">
                <a:solidFill>
                  <a:srgbClr val="949EAB"/>
                </a:solidFill>
                <a:latin typeface="Segoe UI"/>
              </a:rPr>
              <a:t>running the sync twice changes nothing</a:t>
            </a:r>
          </a:p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E6EDF3"/>
                </a:solidFill>
                <a:latin typeface="Segoe UI"/>
              </a:rPr>
              <a:t>Guarded — </a:t>
            </a:r>
            <a:r>
              <a:rPr sz="1300" b="0" i="0">
                <a:solidFill>
                  <a:srgbClr val="949EAB"/>
                </a:solidFill>
                <a:latin typeface="Segoe UI"/>
              </a:rPr>
              <a:t>a rule file without a heading, or one that looks like it contains a secret, aborts the 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517904"/>
            <a:ext cx="5056632" cy="283464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48272" y="17007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GENERATED BLOCK ANATOMY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8272" y="201168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FB950"/>
                </a:solidFill>
                <a:latin typeface="Consolas"/>
              </a:rPr>
              <a:t>&lt;!-- shared-agents:rules:START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646E7B"/>
                </a:solidFill>
                <a:latin typeface="Consolas"/>
              </a:rPr>
              <a:t>     (generated by sync-rules.ps1)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## coding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## security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## testing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## workflow</a:t>
            </a:r>
          </a:p>
          <a:p>
            <a:pPr algn="l"/>
            <a:r>
              <a:rPr sz="1100" b="0" i="0">
                <a:solidFill>
                  <a:srgbClr val="3FB950"/>
                </a:solidFill>
                <a:latin typeface="Consolas"/>
              </a:rPr>
              <a:t>&lt;!-- shared-agents:rules:END --&gt;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4535424"/>
            <a:ext cx="5056632" cy="173736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4700016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646E7B"/>
                </a:solidFill>
                <a:latin typeface="Segoe UI"/>
              </a:rPr>
              <a:t>INSTRUCTION FILES THAT RECEIVE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4992624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8A6FF"/>
                </a:solidFill>
                <a:latin typeface="Consolas"/>
              </a:rPr>
              <a:t>Cline       </a:t>
            </a:r>
            <a:r>
              <a:rPr sz="1050" b="0" i="0">
                <a:solidFill>
                  <a:srgbClr val="949EAB"/>
                </a:solidFill>
                <a:latin typeface="Consolas"/>
              </a:rPr>
              <a:t>~/.agents/AGENTS.md          (native)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8A6FF"/>
                </a:solidFill>
                <a:latin typeface="Consolas"/>
              </a:rPr>
              <a:t>OpenCode    </a:t>
            </a:r>
            <a:r>
              <a:rPr sz="1050" b="0" i="0">
                <a:solidFill>
                  <a:srgbClr val="949EAB"/>
                </a:solidFill>
                <a:latin typeface="Consolas"/>
              </a:rPr>
              <a:t>~/.config/opencode/AGENTS.md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8A6FF"/>
                </a:solidFill>
                <a:latin typeface="Consolas"/>
              </a:rPr>
              <a:t>Claude Code </a:t>
            </a:r>
            <a:r>
              <a:rPr sz="1050" b="0" i="0">
                <a:solidFill>
                  <a:srgbClr val="949EAB"/>
                </a:solidFill>
                <a:latin typeface="Consolas"/>
              </a:rPr>
              <a:t>~/.claude/CLAUDE.md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8A6FF"/>
                </a:solidFill>
                <a:latin typeface="Consolas"/>
              </a:rPr>
              <a:t>Codex       </a:t>
            </a:r>
            <a:r>
              <a:rPr sz="1050" b="0" i="0">
                <a:solidFill>
                  <a:srgbClr val="949EAB"/>
                </a:solidFill>
                <a:latin typeface="Consolas"/>
              </a:rPr>
              <a:t>~/.codex/AGENTS.md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8A6FF"/>
                </a:solidFill>
                <a:latin typeface="Consolas"/>
              </a:rPr>
              <a:t>Qwen Code   </a:t>
            </a:r>
            <a:r>
              <a:rPr sz="1050" b="0" i="0">
                <a:solidFill>
                  <a:srgbClr val="949EAB"/>
                </a:solidFill>
                <a:latin typeface="Consolas"/>
              </a:rPr>
              <a:t>~/.qwen/QWEN.md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LAYER —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Reusable workflows, one SKILL.md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949EAB"/>
                </a:solidFill>
                <a:latin typeface="Segoe UI"/>
              </a:rPr>
              <a:t>Each skill is a folder with a 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SKILL.md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 — a name and a trigger-rich description. Cline reads the shared directory natively; OpenCode, Claude Code and Codex see it through junctions.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0908792" cy="18288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482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WORKFLOW SKILLS —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2395728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95728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3804" y="2395728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8668" y="2395728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11496" y="2395728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2395728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implement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19188" y="2395728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4052" y="2395728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2395728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744" y="2395728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verify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2889504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889504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checkpoint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3804" y="2889504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8668" y="2889504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11496" y="2889504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59" y="2889504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cold-review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9188" y="2889504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4052" y="2889504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audit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889504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2889504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research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" y="3383280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383280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context-management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03804" y="3383280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8668" y="3383280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task-delegation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11496" y="3383280"/>
            <a:ext cx="197510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6359" y="3383280"/>
            <a:ext cx="18653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systematic-debugging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95344"/>
            <a:ext cx="10908792" cy="18288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023359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SPECIALIZED &amp; PRE-EXISTING — 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" y="4370831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4370831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ai-priming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52444" y="4370831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7308" y="4370831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self-repair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8775" y="4370831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39" y="4370831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se-workflow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5108" y="4370831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19972" y="4370831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project-status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" y="4864607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" y="4864607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research-methodology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52444" y="4864607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7308" y="4864607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ponytail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8775" y="4864607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39" y="4864607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ponytail-review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5108" y="4864607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19972" y="4864607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ponytail-audit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" y="5358383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" y="5358383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ponytail-debt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52444" y="5358383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07308" y="5358383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ponytail-gain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08775" y="5358383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39" y="5358383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ponytail-help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65108" y="5358383"/>
            <a:ext cx="2523744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19972" y="5358383"/>
            <a:ext cx="24140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6EDF3"/>
                </a:solidFill>
                <a:latin typeface="Consolas"/>
              </a:rPr>
              <a:t>developing-with-streamlit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833872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49EAB"/>
                </a:solidFill>
                <a:latin typeface="Segoe UI"/>
              </a:rPr>
              <a:t>25 skills in total — counted and validated by 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verify.ps1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 and 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doctor.ps1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 on every run.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LAYER — AGENTS &amp; ADAPTERS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Shared definitions, native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029200" cy="54864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Segoe UI"/>
              </a:rPr>
              <a:t>Shared project knowledge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2103120"/>
            <a:ext cx="0" cy="237744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340864"/>
            <a:ext cx="5029200" cy="548640"/>
          </a:xfrm>
          <a:prstGeom prst="rect">
            <a:avLst/>
          </a:prstGeom>
          <a:solidFill>
            <a:srgbClr val="1A222E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  <a:latin typeface="Consolas"/>
              </a:rPr>
              <a:t>Agent definitions  (agents/*.md)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889504"/>
            <a:ext cx="0" cy="237744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3127248"/>
            <a:ext cx="5029200" cy="54864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2724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Segoe UI"/>
              </a:rPr>
              <a:t>Target-specific adapter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3675887"/>
            <a:ext cx="0" cy="237745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0080" y="3913632"/>
            <a:ext cx="5029200" cy="54864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136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Segoe UI"/>
              </a:rPr>
              <a:t>Coding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17904"/>
            <a:ext cx="5513832" cy="22860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68249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FIVE CANONICAL ROLES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2011680"/>
            <a:ext cx="2359152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011680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  <a:latin typeface="Consolas"/>
              </a:rPr>
              <a:t>architecture-reviewer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2011680"/>
            <a:ext cx="2359152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3104" y="2011680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  <a:latin typeface="Consolas"/>
              </a:rPr>
              <a:t>cold-reviewer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2487168"/>
            <a:ext cx="2359152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2487168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  <a:latin typeface="Consolas"/>
              </a:rPr>
              <a:t>researcher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487168"/>
            <a:ext cx="2359152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33104" y="2487168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  <a:latin typeface="Consolas"/>
              </a:rPr>
              <a:t>security-reviewer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2962656"/>
            <a:ext cx="2359152" cy="38404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2962656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6EDF3"/>
                </a:solidFill>
                <a:latin typeface="Consolas"/>
              </a:rPr>
              <a:t>tester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34564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6E7B"/>
                </a:solidFill>
                <a:latin typeface="Consolas"/>
              </a:rPr>
              <a:t>purpose · responsibilities · forbidden behavior · outputs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986784"/>
            <a:ext cx="5513832" cy="155448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15137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646E7B"/>
                </a:solidFill>
                <a:latin typeface="Segoe UI"/>
              </a:rPr>
              <a:t>WHERE DEFINITIONS LAND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4443984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8A6FF"/>
                </a:solidFill>
                <a:latin typeface="Consolas"/>
              </a:rPr>
              <a:t>Claude Code  </a:t>
            </a:r>
            <a:r>
              <a:rPr sz="1050" b="0" i="0">
                <a:solidFill>
                  <a:srgbClr val="949EAB"/>
                </a:solidFill>
                <a:latin typeface="Consolas"/>
              </a:rPr>
              <a:t>~/.claude/agents/*.md      (native sub-agents)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8A6FF"/>
                </a:solidFill>
                <a:latin typeface="Consolas"/>
              </a:rPr>
              <a:t>OpenCode     </a:t>
            </a:r>
            <a:r>
              <a:rPr sz="1050" b="0" i="0">
                <a:solidFill>
                  <a:srgbClr val="949EAB"/>
                </a:solidFill>
                <a:latin typeface="Consolas"/>
              </a:rPr>
              <a:t>~/.config/opencode/agent/ (subagent mode)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8A6FF"/>
                </a:solidFill>
                <a:latin typeface="Consolas"/>
              </a:rPr>
              <a:t>all others   </a:t>
            </a:r>
            <a:r>
              <a:rPr sz="1050" b="0" i="0">
                <a:solidFill>
                  <a:srgbClr val="949EAB"/>
                </a:solidFill>
                <a:latin typeface="Consolas"/>
              </a:rPr>
              <a:t>inline prompts — nothing is faked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15584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49EAB"/>
                </a:solidFill>
                <a:latin typeface="Segoe UI"/>
              </a:rPr>
              <a:t>Generated agent files carry a generator marker; hand-placed files are never overwritten; stale generated files are removed on sync; one delegation level maximum.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SYNCHRONIZATION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Canonical source, synchronized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17904"/>
            <a:ext cx="5760720" cy="7315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17904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Canonical AGENTS repository</a:t>
            </a:r>
          </a:p>
          <a:p>
            <a:pPr algn="l"/>
            <a:r>
              <a:rPr sz="1000" b="0" i="0">
                <a:solidFill>
                  <a:srgbClr val="949EAB"/>
                </a:solidFill>
                <a:latin typeface="Consolas"/>
              </a:rPr>
              <a:t>git-versioned  •  single source of truth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20440" y="2249424"/>
            <a:ext cx="0" cy="292608"/>
          </a:xfrm>
          <a:prstGeom prst="line">
            <a:avLst/>
          </a:prstGeom>
          <a:ln w="17780">
            <a:solidFill>
              <a:srgbClr val="58A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542032"/>
            <a:ext cx="5760720" cy="868680"/>
          </a:xfrm>
          <a:prstGeom prst="rect">
            <a:avLst/>
          </a:prstGeom>
          <a:solidFill>
            <a:srgbClr val="1A222E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8A6FF"/>
                </a:solidFill>
                <a:latin typeface="Segoe UI"/>
              </a:rPr>
              <a:t>Sync layer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49EAB"/>
                </a:solidFill>
                <a:latin typeface="Consolas"/>
              </a:rPr>
              <a:t>sync-rules.ps1  •  sync-adapters.ps1  •  sync-agents.ps1</a:t>
            </a:r>
          </a:p>
          <a:p>
            <a:pPr algn="l"/>
            <a:r>
              <a:rPr sz="950" b="0" i="0">
                <a:solidFill>
                  <a:srgbClr val="646E7B"/>
                </a:solidFill>
                <a:latin typeface="Consolas"/>
              </a:rPr>
              <a:t>idempotent  •  -TargetHome sandbox mode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3410712"/>
            <a:ext cx="0" cy="246888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31520" y="3657600"/>
            <a:ext cx="1042415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657600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6EDF3"/>
                </a:solidFill>
                <a:latin typeface="Segoe UI"/>
              </a:rPr>
              <a:t>Cline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65376" y="3657600"/>
            <a:ext cx="1042415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657600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6EDF3"/>
                </a:solidFill>
                <a:latin typeface="Segoe UI"/>
              </a:rPr>
              <a:t>OpenCode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9232" y="3657600"/>
            <a:ext cx="1042415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3657600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6EDF3"/>
                </a:solidFill>
                <a:latin typeface="Segoe UI"/>
              </a:rPr>
              <a:t>Claude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3087" y="3657600"/>
            <a:ext cx="1042415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1" y="3657600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6EDF3"/>
                </a:solidFill>
                <a:latin typeface="Segoe UI"/>
              </a:rPr>
              <a:t>Codex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66944" y="3657600"/>
            <a:ext cx="1042415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7" y="3657600"/>
            <a:ext cx="9326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E6EDF3"/>
                </a:solidFill>
                <a:latin typeface="Segoe UI"/>
              </a:rPr>
              <a:t>Qwen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1">
                <a:solidFill>
                  <a:srgbClr val="646E7B"/>
                </a:solidFill>
                <a:latin typeface="Segoe UI"/>
              </a:rPr>
              <a:t>every agent reads the same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1517904"/>
            <a:ext cx="4782312" cy="402336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1700784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WHY CANONICAL + SYNC WINS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048256"/>
            <a:ext cx="4297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200" b="1" i="0">
                <a:solidFill>
                  <a:srgbClr val="E6EDF3"/>
                </a:solidFill>
                <a:latin typeface="Segoe UI"/>
              </a:rPr>
              <a:t>One edit reaches everyone — </a:t>
            </a:r>
            <a:r>
              <a:rPr sz="1200" b="0" i="0">
                <a:solidFill>
                  <a:srgbClr val="949EAB"/>
                </a:solidFill>
                <a:latin typeface="Segoe UI"/>
              </a:rPr>
              <a:t>applied on the next sync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200" b="1" i="0">
                <a:solidFill>
                  <a:srgbClr val="E6EDF3"/>
                </a:solidFill>
                <a:latin typeface="Segoe UI"/>
              </a:rPr>
              <a:t>No copy drift — </a:t>
            </a:r>
            <a:r>
              <a:rPr sz="1200" b="0" i="0">
                <a:solidFill>
                  <a:srgbClr val="949EAB"/>
                </a:solidFill>
                <a:latin typeface="Segoe UI"/>
              </a:rPr>
              <a:t>junctions link, they never duplicate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200" b="1" i="0">
                <a:solidFill>
                  <a:srgbClr val="E6EDF3"/>
                </a:solidFill>
                <a:latin typeface="Segoe UI"/>
              </a:rPr>
              <a:t>Versioned layer — </a:t>
            </a:r>
            <a:r>
              <a:rPr sz="1200" b="0" i="0">
                <a:solidFill>
                  <a:srgbClr val="949EAB"/>
                </a:solidFill>
                <a:latin typeface="Segoe UI"/>
              </a:rPr>
              <a:t>git history and rollback for the infrastructure itself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200" b="1" i="0">
                <a:solidFill>
                  <a:srgbClr val="E6EDF3"/>
                </a:solidFill>
                <a:latin typeface="Segoe UI"/>
              </a:rPr>
              <a:t>Safety rails — </a:t>
            </a:r>
            <a:r>
              <a:rPr sz="1200" b="0" i="0">
                <a:solidFill>
                  <a:srgbClr val="949EAB"/>
                </a:solidFill>
                <a:latin typeface="Segoe UI"/>
              </a:rPr>
              <a:t>agent-owned content is never overwritten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200" b="1" i="0">
                <a:solidFill>
                  <a:srgbClr val="E6EDF3"/>
                </a:solidFill>
                <a:latin typeface="Segoe UI"/>
              </a:rPr>
              <a:t>Checked — </a:t>
            </a:r>
            <a:r>
              <a:rPr sz="1200" b="0" i="0">
                <a:solidFill>
                  <a:srgbClr val="949EAB"/>
                </a:solidFill>
                <a:latin typeface="Segoe UI"/>
              </a:rPr>
              <a:t>drift gates compare deployment against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79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646E7B"/>
                </a:solidFill>
                <a:latin typeface="Segoe UI"/>
              </a:rPr>
              <a:t>Runtimes without a safe native mechanism are skipped by design — no fake support.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VERIFICATION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Completion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89888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E6EDF3"/>
                </a:solidFill>
                <a:latin typeface="Segoe UI"/>
              </a:rPr>
              <a:t>“Completion is not enough. </a:t>
            </a:r>
            <a:r>
              <a:rPr sz="1500" b="1" i="1">
                <a:solidFill>
                  <a:srgbClr val="58A6FF"/>
                </a:solidFill>
                <a:latin typeface="Segoe UI"/>
              </a:rPr>
              <a:t>Verification is part of the workflow.”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3511296" cy="1609344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511296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49424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6EDF3"/>
                </a:solidFill>
                <a:latin typeface="Segoe UI"/>
              </a:rPr>
              <a:t>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78608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run-tests.ps1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71215"/>
            <a:ext cx="3127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60 assertions — skills, rules, agents, adapters, idempotency, secrets, regression.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828" y="2103120"/>
            <a:ext cx="3511296" cy="1609344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828" y="2103120"/>
            <a:ext cx="3511296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9996" y="2249424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6EDF3"/>
                </a:solidFill>
                <a:latin typeface="Segoe UI"/>
              </a:rPr>
              <a:t>Integration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2578608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run-integration.ps1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9996" y="2871215"/>
            <a:ext cx="3127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End-to-end on the real layer: temp artifacts deployed, validated, fully cleaned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75" y="2103120"/>
            <a:ext cx="3511296" cy="1609344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2103120"/>
            <a:ext cx="3511296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2249424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6EDF3"/>
                </a:solidFill>
                <a:latin typeface="Segoe UI"/>
              </a:rPr>
              <a:t>Doctor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78608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doctor.ps1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871215"/>
            <a:ext cx="3127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Full diagnostics including a sandbox idempotency check. Exit 0 = healthy.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58768"/>
            <a:ext cx="3511296" cy="1609344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58768"/>
            <a:ext cx="3511296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00507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6EDF3"/>
                </a:solidFill>
                <a:latin typeface="Segoe UI"/>
              </a:rPr>
              <a:t>Exit codes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334256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machine-checked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626864"/>
            <a:ext cx="3127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Every script means it: 0 = healthy, anything else = a hard failure.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8828" y="3858768"/>
            <a:ext cx="3511296" cy="1609344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8828" y="3858768"/>
            <a:ext cx="3511296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9996" y="400507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6EDF3"/>
                </a:solidFill>
                <a:latin typeface="Segoe UI"/>
              </a:rPr>
              <a:t>Secret scanning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9996" y="4334256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hard failure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9996" y="4626864"/>
            <a:ext cx="3127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Plaintext keys or passwords abort syncs and fail verification.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7575" y="3858768"/>
            <a:ext cx="3511296" cy="1609344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37575" y="3858768"/>
            <a:ext cx="3511296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8744" y="400507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E6EDF3"/>
                </a:solidFill>
                <a:latin typeface="Segoe UI"/>
              </a:rPr>
              <a:t>Drift &amp; idempotency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334256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8A6FF"/>
                </a:solidFill>
                <a:latin typeface="Consolas"/>
              </a:rPr>
              <a:t>deployed vs 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4626864"/>
            <a:ext cx="31272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Deployed blocks are diffed against source; a second sync run must be a no-op.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97296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  <a:latin typeface="Consolas"/>
              </a:rPr>
              <a:t>verify.ps1</a:t>
            </a:r>
            <a:r>
              <a:rPr sz="1100" b="0" i="0">
                <a:solidFill>
                  <a:srgbClr val="949EAB"/>
                </a:solidFill>
                <a:latin typeface="Segoe UI"/>
              </a:rPr>
              <a:t> checks layer health only — verifying an actual requirement is a separate, explicit step.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EVOLUTION —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Reliability hardened step by step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993392"/>
            <a:ext cx="10451592" cy="0"/>
          </a:xfrm>
          <a:prstGeom prst="line">
            <a:avLst/>
          </a:prstGeom>
          <a:ln w="1524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50976" y="1709928"/>
            <a:ext cx="566928" cy="566928"/>
          </a:xfrm>
          <a:prstGeom prst="rect">
            <a:avLst/>
          </a:prstGeom>
          <a:solidFill>
            <a:srgbClr val="1A222E"/>
          </a:solidFill>
          <a:ln w="1651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709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onsolas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2487168"/>
            <a:ext cx="206654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E6EDF3"/>
                </a:solidFill>
                <a:latin typeface="Segoe UI"/>
              </a:rPr>
              <a:t>Verification before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3127248"/>
            <a:ext cx="206654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A “done” claim needs session evidence: exact commands and observed results.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709928"/>
            <a:ext cx="566928" cy="566928"/>
          </a:xfrm>
          <a:prstGeom prst="rect">
            <a:avLst/>
          </a:prstGeom>
          <a:solidFill>
            <a:srgbClr val="1A222E"/>
          </a:solidFill>
          <a:ln w="1651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709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onsolas"/>
              </a:rPr>
              <a:t>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487168"/>
            <a:ext cx="206654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E6EDF3"/>
                </a:solidFill>
                <a:latin typeface="Segoe UI"/>
              </a:rPr>
              <a:t>Systematic debugging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127248"/>
            <a:ext cx="206654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Evidence-first: reproduce, diagnose, fix — no symptom-driven guessing.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709928"/>
            <a:ext cx="566928" cy="566928"/>
          </a:xfrm>
          <a:prstGeom prst="rect">
            <a:avLst/>
          </a:prstGeom>
          <a:solidFill>
            <a:srgbClr val="1A222E"/>
          </a:solidFill>
          <a:ln w="1651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709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onsolas"/>
              </a:rPr>
              <a:t>#3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487168"/>
            <a:ext cx="206654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E6EDF3"/>
                </a:solidFill>
                <a:latin typeface="Segoe UI"/>
              </a:rPr>
              <a:t>TDD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3127248"/>
            <a:ext cx="206654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RED → GREEN → REFACTOR, with intended-failure evidence and a docs-only escape hatch.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1" y="1709928"/>
            <a:ext cx="566928" cy="566928"/>
          </a:xfrm>
          <a:prstGeom prst="rect">
            <a:avLst/>
          </a:prstGeom>
          <a:solidFill>
            <a:srgbClr val="1A222E"/>
          </a:solidFill>
          <a:ln w="1651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1" y="1709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onsolas"/>
              </a:rPr>
              <a:t>#4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487168"/>
            <a:ext cx="206654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E6EDF3"/>
                </a:solidFill>
                <a:latin typeface="Segoe UI"/>
              </a:rPr>
              <a:t>Stronger completion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3127248"/>
            <a:ext cx="206654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Requirement-coverage mapping, no test weakening, post-hoc test linkage.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04703" y="1709928"/>
            <a:ext cx="566928" cy="566928"/>
          </a:xfrm>
          <a:prstGeom prst="rect">
            <a:avLst/>
          </a:prstGeom>
          <a:solidFill>
            <a:srgbClr val="1A222E"/>
          </a:solidFill>
          <a:ln w="1651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04703" y="17099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Consolas"/>
              </a:rPr>
              <a:t>#5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2487168"/>
            <a:ext cx="206654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E6EDF3"/>
                </a:solidFill>
                <a:latin typeface="Segoe UI"/>
              </a:rPr>
              <a:t>Drift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3127248"/>
            <a:ext cx="2066543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Deployed generated layers must match source — a mismatch is a hard FAIL.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669280"/>
            <a:ext cx="10908792" cy="502920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10908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949EAB"/>
                </a:solidFill>
                <a:latin typeface="Segoe UI"/>
              </a:rPr>
              <a:t>Each step is regression-tested — </a:t>
            </a:r>
            <a:r>
              <a:rPr sz="1200" b="1" i="0">
                <a:solidFill>
                  <a:srgbClr val="E6EDF3"/>
                </a:solidFill>
                <a:latin typeface="Segoe UI"/>
              </a:rPr>
              <a:t>the suite grew with every gate and still passes today.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DRIFT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Generated layers stay true to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4846320" cy="566928"/>
          </a:xfrm>
          <a:prstGeom prst="rect">
            <a:avLst/>
          </a:prstGeom>
          <a:solidFill>
            <a:srgbClr val="151B23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58A6FF"/>
                </a:solidFill>
                <a:latin typeface="Segoe UI"/>
              </a:rPr>
              <a:t>Source</a:t>
            </a:r>
          </a:p>
          <a:p>
            <a:pPr algn="l"/>
            <a:r>
              <a:rPr sz="950" b="0" i="0">
                <a:solidFill>
                  <a:srgbClr val="949EAB"/>
                </a:solidFill>
                <a:latin typeface="Consolas"/>
              </a:rPr>
              <a:t>rules/*.md  (what you edit)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63240" y="2103120"/>
            <a:ext cx="0" cy="201168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304288"/>
            <a:ext cx="4846320" cy="566928"/>
          </a:xfrm>
          <a:prstGeom prst="rect">
            <a:avLst/>
          </a:prstGeom>
          <a:solidFill>
            <a:srgbClr val="151B23"/>
          </a:solidFill>
          <a:ln w="12700">
            <a:solidFill>
              <a:srgbClr val="E6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E6EDF3"/>
                </a:solidFill>
                <a:latin typeface="Segoe UI"/>
              </a:rPr>
              <a:t>Generated layer</a:t>
            </a:r>
          </a:p>
          <a:p>
            <a:pPr algn="l"/>
            <a:r>
              <a:rPr sz="950" b="0" i="0">
                <a:solidFill>
                  <a:srgbClr val="949EAB"/>
                </a:solidFill>
                <a:latin typeface="Consolas"/>
              </a:rPr>
              <a:t>deployed blocks &amp; generated agent files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871216"/>
            <a:ext cx="0" cy="201168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3072384"/>
            <a:ext cx="4846320" cy="566928"/>
          </a:xfrm>
          <a:prstGeom prst="rect">
            <a:avLst/>
          </a:prstGeom>
          <a:solidFill>
            <a:srgbClr val="151B23"/>
          </a:solidFill>
          <a:ln w="12700">
            <a:solidFill>
              <a:srgbClr val="E6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72384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E6EDF3"/>
                </a:solidFill>
                <a:latin typeface="Segoe UI"/>
              </a:rPr>
              <a:t>Manual / accidental edit</a:t>
            </a:r>
          </a:p>
          <a:p>
            <a:pPr algn="l"/>
            <a:r>
              <a:rPr sz="950" b="0" i="0">
                <a:solidFill>
                  <a:srgbClr val="949EAB"/>
                </a:solidFill>
                <a:latin typeface="Consolas"/>
              </a:rPr>
              <a:t>no marker, no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3639312"/>
            <a:ext cx="0" cy="201168"/>
          </a:xfrm>
          <a:prstGeom prst="line">
            <a:avLst/>
          </a:prstGeom>
          <a:ln w="17780">
            <a:solidFill>
              <a:srgbClr val="F8514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0080" y="3840480"/>
            <a:ext cx="4846320" cy="566928"/>
          </a:xfrm>
          <a:prstGeom prst="rect">
            <a:avLst/>
          </a:prstGeom>
          <a:solidFill>
            <a:srgbClr val="151B23"/>
          </a:solidFill>
          <a:ln w="1524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F85149"/>
                </a:solidFill>
                <a:latin typeface="Segoe UI"/>
              </a:rPr>
              <a:t>DRIFT</a:t>
            </a:r>
          </a:p>
          <a:p>
            <a:pPr algn="l"/>
            <a:r>
              <a:rPr sz="950" b="0" i="0">
                <a:solidFill>
                  <a:srgbClr val="949EAB"/>
                </a:solidFill>
                <a:latin typeface="Consolas"/>
              </a:rPr>
              <a:t>deployed content no longer matches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517904"/>
            <a:ext cx="5605272" cy="292608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68249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HOW THE LAYER FIGHTS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01168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150" b="1" i="0">
                <a:solidFill>
                  <a:srgbClr val="E6EDF3"/>
                </a:solidFill>
                <a:latin typeface="Segoe UI"/>
              </a:rPr>
              <a:t>Controlled deployment — 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sync writes only inside marked generated blocks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150" b="1" i="0">
                <a:solidFill>
                  <a:srgbClr val="E6EDF3"/>
                </a:solidFill>
                <a:latin typeface="Segoe UI"/>
              </a:rPr>
              <a:t>Continuous checking — 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tests and doctor rebuild the expected block from source and diff every deployed copy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150" b="1" i="0">
                <a:solidFill>
                  <a:srgbClr val="E6EDF3"/>
                </a:solidFill>
                <a:latin typeface="Segoe UI"/>
              </a:rPr>
              <a:t>Hard failure — 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any mismatch FAILS; the remedy is re-running the sync</a:t>
            </a:r>
          </a:p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150" b="1" i="0">
                <a:solidFill>
                  <a:srgbClr val="E6EDF3"/>
                </a:solidFill>
                <a:latin typeface="Segoe UI"/>
              </a:rPr>
              <a:t>Ownership markers — 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generated files are marked; hand-placed files are never overwritten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54880"/>
            <a:ext cx="5303520" cy="1005840"/>
          </a:xfrm>
          <a:prstGeom prst="rect">
            <a:avLst/>
          </a:prstGeom>
          <a:solidFill>
            <a:srgbClr val="1A222E"/>
          </a:solidFill>
          <a:ln w="1397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882896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 spc="200">
                <a:solidFill>
                  <a:srgbClr val="58A6FF"/>
                </a:solidFill>
                <a:latin typeface="Segoe UI"/>
              </a:rPr>
              <a:t>SOURCE OF TRUTH — you edit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rules/    skills/    agents/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9904" y="4754880"/>
            <a:ext cx="5458968" cy="1005840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4882896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 spc="200">
                <a:solidFill>
                  <a:srgbClr val="646E7B"/>
                </a:solidFill>
                <a:latin typeface="Segoe UI"/>
              </a:rPr>
              <a:t>GENERATED / TARGET — never hand-edit</a:t>
            </a:r>
          </a:p>
          <a:p>
            <a:pPr algn="l"/>
            <a:r>
              <a:rPr sz="1200" b="0" i="0">
                <a:solidFill>
                  <a:srgbClr val="949EAB"/>
                </a:solidFill>
                <a:latin typeface="Consolas"/>
              </a:rPr>
              <a:t>blocks   junctions   pointer files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Verification snapshot — all green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2587752" cy="173736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877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556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646E7B"/>
                </a:solidFill>
                <a:latin typeface="Segoe UI"/>
              </a:rPr>
              <a:t>UNIT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066543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FB950"/>
                </a:solidFill>
                <a:latin typeface="Consolas"/>
              </a:rPr>
              <a:t>60 / 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8163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49EAB"/>
                </a:solidFill>
                <a:latin typeface="Consolas"/>
              </a:rPr>
              <a:t>ALL PASSED — run-tests.ps1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3455" y="1572768"/>
            <a:ext cx="2587752" cy="173736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3455" y="1572768"/>
            <a:ext cx="25877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2911" y="17556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646E7B"/>
                </a:solidFill>
                <a:latin typeface="Segoe UI"/>
              </a:rPr>
              <a:t>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2911" y="2066543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FB950"/>
                </a:solidFill>
                <a:latin typeface="Consolas"/>
              </a:rPr>
              <a:t>16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2911" y="28163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49EAB"/>
                </a:solidFill>
                <a:latin typeface="Consolas"/>
              </a:rPr>
              <a:t>ALL PASSED — run-integration.ps1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6830" y="1572768"/>
            <a:ext cx="2587752" cy="173736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6830" y="1572768"/>
            <a:ext cx="25877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6286" y="17556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646E7B"/>
                </a:solidFill>
                <a:latin typeface="Segoe UI"/>
              </a:rPr>
              <a:t>DOCTOR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6286" y="2066543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FB950"/>
                </a:solidFill>
                <a:latin typeface="Consolas"/>
              </a:rPr>
              <a:t>HEALTHY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286" y="28163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49EAB"/>
                </a:solidFill>
                <a:latin typeface="Consolas"/>
              </a:rPr>
              <a:t>full diagnostics — doctor.ps1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0205" y="1572768"/>
            <a:ext cx="2587752" cy="173736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0205" y="1572768"/>
            <a:ext cx="25877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9661" y="175564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646E7B"/>
                </a:solidFill>
                <a:latin typeface="Segoe UI"/>
              </a:rPr>
              <a:t>WORKING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9661" y="2066543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FB950"/>
                </a:solidFill>
                <a:latin typeface="Consolas"/>
              </a:rPr>
              <a:t>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9661" y="28163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49EAB"/>
                </a:solidFill>
                <a:latin typeface="Consolas"/>
              </a:rPr>
              <a:t>nothing uncommitted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39312"/>
            <a:ext cx="10908792" cy="1517904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85615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RE-EXECUTED FOR THIS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11480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powershell -File ~/.agents/tests/run-tests.ps1        </a:t>
            </a:r>
            <a:r>
              <a:rPr sz="1200" b="0" i="0">
                <a:solidFill>
                  <a:srgbClr val="3FB950"/>
                </a:solidFill>
                <a:latin typeface="Consolas"/>
              </a:rPr>
              <a:t>  →  ALL PASSED (60)   exit 0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powershell -File ~/.agents/tests/run-integration.ps1  </a:t>
            </a:r>
            <a:r>
              <a:rPr sz="1200" b="0" i="0">
                <a:solidFill>
                  <a:srgbClr val="3FB950"/>
                </a:solidFill>
                <a:latin typeface="Consolas"/>
              </a:rPr>
              <a:t>  →  ALL PASSED (16)   exit 0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</a:rPr>
              <a:t>powershell -File ~/.agents/doctor.ps1                 </a:t>
            </a:r>
            <a:r>
              <a:rPr sz="1200" b="0" i="0">
                <a:solidFill>
                  <a:srgbClr val="3FB950"/>
                </a:solidFill>
                <a:latin typeface="Consolas"/>
              </a:rPr>
              <a:t>  →  HEALTHY           exit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49EAB"/>
                </a:solidFill>
                <a:latin typeface="Segoe UI"/>
              </a:rPr>
              <a:t>Re-run on commit 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f3c7e8d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, September 2026 — unit, integration and doctor all exit 0.</a:t>
            </a:r>
          </a:p>
          <a:p>
            <a:pPr algn="l"/>
            <a:r>
              <a:rPr sz="1050" b="0" i="0">
                <a:solidFill>
                  <a:srgbClr val="646E7B"/>
                </a:solidFill>
                <a:latin typeface="Segoe UI"/>
              </a:rPr>
              <a:t>If any gate fails, the layer is treated as broken — numbers are never assumed, they are re-run.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How the layer is used day to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solidFill>
            <a:srgbClr val="1A222E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Consola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25296" y="1481328"/>
            <a:ext cx="5394960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4752" y="14813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  <a:latin typeface="Consolas"/>
              </a:rPr>
              <a:t>Clone / install the layer  (git)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1938528"/>
            <a:ext cx="0" cy="256032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solidFill>
            <a:srgbClr val="1A222E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Consola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5296" y="2194560"/>
            <a:ext cx="5394960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2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  <a:latin typeface="Segoe UI"/>
              </a:rPr>
              <a:t>Configure shared rules &amp; skills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651760"/>
            <a:ext cx="0" cy="256032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080" y="2907792"/>
            <a:ext cx="457200" cy="457200"/>
          </a:xfrm>
          <a:prstGeom prst="rect">
            <a:avLst/>
          </a:prstGeom>
          <a:solidFill>
            <a:srgbClr val="1A222E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Consola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5296" y="2907792"/>
            <a:ext cx="5394960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4752" y="29077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  <a:latin typeface="Segoe UI"/>
              </a:rPr>
              <a:t>Sync supported agents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3364992"/>
            <a:ext cx="0" cy="256032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" y="3621024"/>
            <a:ext cx="457200" cy="457200"/>
          </a:xfrm>
          <a:prstGeom prst="rect">
            <a:avLst/>
          </a:prstGeom>
          <a:solidFill>
            <a:srgbClr val="1A222E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210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Consola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5296" y="3621024"/>
            <a:ext cx="5394960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" y="362102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  <a:latin typeface="Segoe UI"/>
              </a:rPr>
              <a:t>Work with shared rules &amp; skills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4078224"/>
            <a:ext cx="0" cy="256032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" y="4334256"/>
            <a:ext cx="457200" cy="457200"/>
          </a:xfrm>
          <a:prstGeom prst="rect">
            <a:avLst/>
          </a:prstGeom>
          <a:solidFill>
            <a:srgbClr val="1A222E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342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Consola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25296" y="4334256"/>
            <a:ext cx="5394960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44752" y="433425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  <a:latin typeface="Segoe UI"/>
              </a:rPr>
              <a:t>Verify  (tests  •  doctor)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8680" y="4791456"/>
            <a:ext cx="0" cy="256032"/>
          </a:xfrm>
          <a:prstGeom prst="line">
            <a:avLst/>
          </a:prstGeom>
          <a:ln w="17780">
            <a:solidFill>
              <a:srgbClr val="646E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40080" y="5047488"/>
            <a:ext cx="457200" cy="457200"/>
          </a:xfrm>
          <a:prstGeom prst="rect">
            <a:avLst/>
          </a:prstGeom>
          <a:solidFill>
            <a:srgbClr val="1A222E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47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  <a:latin typeface="Consolas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25296" y="5047488"/>
            <a:ext cx="5394960" cy="45720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44752" y="504748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E6EDF3"/>
                </a:solidFill>
                <a:latin typeface="Segoe UI"/>
              </a:rPr>
              <a:t>Commit — the layer itself is versioned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1481328"/>
            <a:ext cx="4599432" cy="4279392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166420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58A6FF"/>
                </a:solidFill>
                <a:latin typeface="Segoe UI"/>
              </a:rPr>
              <a:t>PRACTICAL 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2011680"/>
            <a:ext cx="41148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150" b="1" i="0">
                <a:solidFill>
                  <a:srgbClr val="E6EDF3"/>
                </a:solidFill>
                <a:latin typeface="Segoe UI"/>
              </a:rPr>
              <a:t>Add a skill → run the syncs — 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every agent picks it up through its adapter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150" b="1" i="0">
                <a:solidFill>
                  <a:srgbClr val="E6EDF3"/>
                </a:solidFill>
                <a:latin typeface="Segoe UI"/>
              </a:rPr>
              <a:t>Sandbox first — 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all syncs accept -TargetHome; tests and doctor exercise sandboxes, never live agent dirs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150" b="1" i="0">
                <a:solidFill>
                  <a:srgbClr val="E6EDF3"/>
                </a:solidFill>
                <a:latin typeface="Segoe UI"/>
              </a:rPr>
              <a:t>Two kinds of verify — 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verify.ps1 = layer health; requirement verification stays an explicit step</a:t>
            </a:r>
          </a:p>
          <a:p>
            <a:pPr algn="l">
              <a:spcAft>
                <a:spcPts val="900"/>
              </a:spcAft>
            </a:pPr>
            <a:r>
              <a:rPr sz="11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150" b="1" i="0">
                <a:solidFill>
                  <a:srgbClr val="E6EDF3"/>
                </a:solidFill>
                <a:latin typeface="Segoe UI"/>
              </a:rPr>
              <a:t>Project memory — </a:t>
            </a:r>
            <a:r>
              <a:rPr sz="1150" b="0" i="0">
                <a:solidFill>
                  <a:srgbClr val="949EAB"/>
                </a:solidFill>
                <a:latin typeface="Segoe UI"/>
              </a:rPr>
              <a:t>.agent/CHECKPOINT.md + .agent/DECISIONS.md per project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PUBLICATION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Built to be versioned — and to be published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17904"/>
            <a:ext cx="3931920" cy="420624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3931920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830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58A6FF"/>
                </a:solidFill>
                <a:latin typeface="Segoe UI"/>
              </a:rPr>
              <a:t>MIT</a:t>
            </a:r>
          </a:p>
          <a:p>
            <a:pPr algn="l"/>
            <a:r>
              <a:rPr sz="1100" b="1" i="0" spc="300">
                <a:solidFill>
                  <a:srgbClr val="949EAB"/>
                </a:solidFill>
                <a:latin typeface="Segoe UI"/>
              </a:rPr>
              <a:t>LICENSED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96112" y="3035808"/>
            <a:ext cx="3419856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96112" y="3163824"/>
            <a:ext cx="34747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</a:rPr>
              <a:t>First-party content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49EAB"/>
                </a:solidFill>
                <a:latin typeface="Segoe UI"/>
              </a:rPr>
              <a:t>Skills, rules, agent definitions, sync/verify scripts, tests and documentation — all original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07408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6EDF3"/>
                </a:solidFill>
                <a:latin typeface="Segoe UI"/>
              </a:rPr>
              <a:t>Third-party stays third-party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949EAB"/>
                </a:solidFill>
                <a:latin typeface="Consolas"/>
              </a:rPr>
              <a:t>ponytail suite — MIT (declared in SKILL.md)</a:t>
            </a:r>
          </a:p>
          <a:p>
            <a:pPr algn="l"/>
            <a:r>
              <a:rPr sz="1000" b="0" i="0">
                <a:solidFill>
                  <a:srgbClr val="949EAB"/>
                </a:solidFill>
                <a:latin typeface="Consolas"/>
              </a:rPr>
              <a:t>streamlit discover.py — Apache-2.0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658368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250" b="1" i="0">
                <a:solidFill>
                  <a:srgbClr val="E6EDF3"/>
                </a:solidFill>
                <a:latin typeface="Segoe UI"/>
              </a:rPr>
              <a:t>The layer is a git repository —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history, rollback and audit for the infrastructure itself</a:t>
            </a:r>
          </a:p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250" b="1" i="0">
                <a:solidFill>
                  <a:srgbClr val="E6EDF3"/>
                </a:solidFill>
                <a:latin typeface="Segoe UI"/>
              </a:rPr>
              <a:t>Git-based only —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no server, no database; moving machines means copying the directory</a:t>
            </a:r>
          </a:p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250" b="1" i="0">
                <a:solidFill>
                  <a:srgbClr val="E6EDF3"/>
                </a:solidFill>
                <a:latin typeface="Segoe UI"/>
              </a:rPr>
              <a:t>Publicly publishable —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no personal paths, no machine-specific configuration in the layer</a:t>
            </a:r>
          </a:p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250" b="1" i="0">
                <a:solidFill>
                  <a:srgbClr val="E6EDF3"/>
                </a:solidFill>
                <a:latin typeface="Segoe UI"/>
              </a:rPr>
              <a:t>Hygiene is tested —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“no machine-local remote paths” is an assertion in the unit suite</a:t>
            </a:r>
          </a:p>
          <a:p>
            <a:pPr algn="l">
              <a:spcAft>
                <a:spcPts val="1100"/>
              </a:spcAft>
            </a:pPr>
            <a:r>
              <a:rPr sz="1250" b="1" i="0">
                <a:solidFill>
                  <a:srgbClr val="58A6FF"/>
                </a:solidFill>
                <a:latin typeface="Segoe UI"/>
              </a:rPr>
              <a:t>—  </a:t>
            </a:r>
            <a:r>
              <a:rPr sz="1250" b="1" i="0">
                <a:solidFill>
                  <a:srgbClr val="E6EDF3"/>
                </a:solidFill>
                <a:latin typeface="Segoe UI"/>
              </a:rPr>
              <a:t>Remote-agnostic —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origin is just a git remote; nothing in the layer depends on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15584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6E7B"/>
                </a:solidFill>
                <a:latin typeface="Segoe UI"/>
              </a:rPr>
              <a:t>Public repository:</a:t>
            </a:r>
            <a:r>
              <a:rPr sz="1100" b="0" i="0">
                <a:solidFill>
                  <a:srgbClr val="58A6FF"/>
                </a:solidFill>
                <a:latin typeface="Consolas"/>
              </a:rPr>
              <a:t>  github.com/hamzagaddari89-prog/agents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58A6FF"/>
                </a:solidFill>
                <a:latin typeface="Segoe U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  <a:latin typeface="Segoe UI"/>
              </a:rPr>
              <a:t>What AGENTS is — and what it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303520" cy="39319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303520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3FB950"/>
                </a:solidFill>
                <a:latin typeface="Segoe UI"/>
              </a:rPr>
              <a:t>CURRENT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48256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FB950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E6EDF3"/>
                </a:solidFill>
                <a:latin typeface="Segoe UI"/>
              </a:rPr>
              <a:t>Shared rules — one source, injected everywhere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FB950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E6EDF3"/>
                </a:solidFill>
                <a:latin typeface="Segoe UI"/>
              </a:rPr>
              <a:t>Reusable skills — 25 SKILL.md workflows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FB950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E6EDF3"/>
                </a:solidFill>
                <a:latin typeface="Segoe UI"/>
              </a:rPr>
              <a:t>Agent definitions — 5 canonical sub-agent roles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FB950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E6EDF3"/>
                </a:solidFill>
                <a:latin typeface="Segoe UI"/>
              </a:rPr>
              <a:t>Synchronization — idempotent, sandbox-testable syncs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FB950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E6EDF3"/>
                </a:solidFill>
                <a:latin typeface="Segoe UI"/>
              </a:rPr>
              <a:t>Verification — tests, doctor, exit codes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FB950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E6EDF3"/>
                </a:solidFill>
                <a:latin typeface="Segoe UI"/>
              </a:rPr>
              <a:t>Drift protection — deployed layers match source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3FB950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E6EDF3"/>
                </a:solidFill>
                <a:latin typeface="Segoe UI"/>
              </a:rPr>
              <a:t>Health checks — deterministic and scriptable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481328"/>
            <a:ext cx="5303520" cy="3931920"/>
          </a:xfrm>
          <a:prstGeom prst="rect">
            <a:avLst/>
          </a:prstGeom>
          <a:solidFill>
            <a:srgbClr val="151B23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168249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50">
                <a:solidFill>
                  <a:srgbClr val="646E7B"/>
                </a:solidFill>
                <a:latin typeface="Segoe UI"/>
              </a:rPr>
              <a:t>NOT PART OF THE CORE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2048256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646E7B"/>
                </a:solidFill>
                <a:latin typeface="Segoe UI"/>
              </a:rPr>
              <a:t>× 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Multi-agent orchestration</a:t>
            </a:r>
          </a:p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646E7B"/>
                </a:solidFill>
                <a:latin typeface="Segoe UI"/>
              </a:rPr>
              <a:t>× 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Dashboard</a:t>
            </a:r>
          </a:p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646E7B"/>
                </a:solidFill>
                <a:latin typeface="Segoe UI"/>
              </a:rPr>
              <a:t>× 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ML recommendation engine</a:t>
            </a:r>
          </a:p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646E7B"/>
                </a:solidFill>
                <a:latin typeface="Segoe UI"/>
              </a:rPr>
              <a:t>× 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Prompt marketplace</a:t>
            </a:r>
          </a:p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646E7B"/>
                </a:solidFill>
                <a:latin typeface="Segoe UI"/>
              </a:rPr>
              <a:t>× 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Distributed agent swarm</a:t>
            </a:r>
          </a:p>
          <a:p>
            <a:pPr algn="l">
              <a:spcAft>
                <a:spcPts val="1000"/>
              </a:spcAft>
            </a:pPr>
            <a:r>
              <a:rPr sz="1250" b="1" i="0">
                <a:solidFill>
                  <a:srgbClr val="646E7B"/>
                </a:solidFill>
                <a:latin typeface="Segoe UI"/>
              </a:rPr>
              <a:t>×  </a:t>
            </a:r>
            <a:r>
              <a:rPr sz="1250" b="0" i="0">
                <a:solidFill>
                  <a:srgbClr val="949EAB"/>
                </a:solidFill>
                <a:latin typeface="Segoe UI"/>
              </a:rPr>
              <a:t>Large observability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41264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646E7B"/>
                </a:solidFill>
                <a:latin typeface="Segoe UI"/>
              </a:rPr>
              <a:t>Non-goals mark today’s boundaries — they are not a confirmed roadmap.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888736"/>
            <a:ext cx="10908792" cy="475488"/>
          </a:xfrm>
          <a:prstGeom prst="rect">
            <a:avLst/>
          </a:prstGeom>
          <a:solidFill>
            <a:srgbClr val="1A222E"/>
          </a:solidFill>
          <a:ln w="12700">
            <a:solidFill>
              <a:srgbClr val="2C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888736"/>
            <a:ext cx="109087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  <a:latin typeface="Consolas"/>
              </a:rPr>
              <a:t>Consistency </a:t>
            </a:r>
            <a:r>
              <a:rPr sz="1300" b="1" i="0">
                <a:solidFill>
                  <a:srgbClr val="58A6FF"/>
                </a:solidFill>
                <a:latin typeface="Consolas"/>
              </a:rPr>
              <a:t>→ </a:t>
            </a:r>
            <a:r>
              <a:rPr sz="1300" b="1" i="0">
                <a:solidFill>
                  <a:srgbClr val="E6EDF3"/>
                </a:solidFill>
                <a:latin typeface="Consolas"/>
              </a:rPr>
              <a:t>Verification </a:t>
            </a:r>
            <a:r>
              <a:rPr sz="1300" b="1" i="0">
                <a:solidFill>
                  <a:srgbClr val="58A6FF"/>
                </a:solidFill>
                <a:latin typeface="Consolas"/>
              </a:rPr>
              <a:t>→ </a:t>
            </a:r>
            <a:r>
              <a:rPr sz="1300" b="1" i="0">
                <a:solidFill>
                  <a:srgbClr val="E6EDF3"/>
                </a:solidFill>
                <a:latin typeface="Consolas"/>
              </a:rPr>
              <a:t>Portability </a:t>
            </a:r>
            <a:r>
              <a:rPr sz="1300" b="1" i="0">
                <a:solidFill>
                  <a:srgbClr val="58A6FF"/>
                </a:solidFill>
                <a:latin typeface="Consolas"/>
              </a:rPr>
              <a:t>→ </a:t>
            </a:r>
            <a:r>
              <a:rPr sz="1300" b="1" i="0">
                <a:solidFill>
                  <a:srgbClr val="E6EDF3"/>
                </a:solidFill>
                <a:latin typeface="Consolas"/>
              </a:rPr>
              <a:t>Maintainability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12700">
            <a:solidFill>
              <a:srgbClr val="2C33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8309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6E7B"/>
                </a:solidFill>
                <a:latin typeface="Segoe UI"/>
              </a:rPr>
              <a:t>AGENTS — Shared Agent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72" y="64830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6E7B"/>
                </a:solidFill>
                <a:latin typeface="Segoe U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— Project Overview</dc:title>
  <dc:subject>Shared Agent Infrastructure</dc:subject>
  <dc:creator>AGENTS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